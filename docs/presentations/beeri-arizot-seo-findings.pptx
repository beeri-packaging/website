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51f8ca4d94be2" /><Relationship Type="http://schemas.openxmlformats.org/officeDocument/2006/relationships/extended-properties" Target="/docProps/app.xml" Id="Rbbc69a62c7ea4cc4" /><Relationship Type="http://schemas.openxmlformats.org/officeDocument/2006/relationships/officeDocument" Target="/ppt/presentation.xml" Id="R8f809e28279f43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ab0cf32184f17"/>
  </p:sldMasterIdLst>
  <p:notesMasterIdLst>
    <p:notesMasterId xmlns:r="http://schemas.openxmlformats.org/officeDocument/2006/relationships" r:id="R695776df0cca4b64"/>
  </p:notesMasterIdLst>
  <p:sldIdLst>
    <p:sldId xmlns:r="http://schemas.openxmlformats.org/officeDocument/2006/relationships" id="256" r:id="Rac8ae2aaca114fa1"/>
    <p:sldId xmlns:r="http://schemas.openxmlformats.org/officeDocument/2006/relationships" id="257" r:id="R25e6be0638b848a4"/>
    <p:sldId xmlns:r="http://schemas.openxmlformats.org/officeDocument/2006/relationships" id="258" r:id="R3bce4fe6edab449b"/>
    <p:sldId xmlns:r="http://schemas.openxmlformats.org/officeDocument/2006/relationships" id="259" r:id="Raaeb249614284586"/>
    <p:sldId xmlns:r="http://schemas.openxmlformats.org/officeDocument/2006/relationships" id="260" r:id="R1fda542255fd4c22"/>
    <p:sldId xmlns:r="http://schemas.openxmlformats.org/officeDocument/2006/relationships" id="261" r:id="R183cd9c4fcc0461a"/>
    <p:sldId xmlns:r="http://schemas.openxmlformats.org/officeDocument/2006/relationships" id="262" r:id="Re935122f4beb4ee7"/>
    <p:sldId xmlns:r="http://schemas.openxmlformats.org/officeDocument/2006/relationships" id="263" r:id="R507a80d460254150"/>
    <p:sldId xmlns:r="http://schemas.openxmlformats.org/officeDocument/2006/relationships" id="264" r:id="R0d1b60acfccf41db"/>
    <p:sldId xmlns:r="http://schemas.openxmlformats.org/officeDocument/2006/relationships" id="265" r:id="Rccedf5f1dbdf42d0"/>
    <p:sldId xmlns:r="http://schemas.openxmlformats.org/officeDocument/2006/relationships" id="266" r:id="R6338df05bdca488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ab0cf32184f17" /><Relationship Type="http://schemas.openxmlformats.org/officeDocument/2006/relationships/theme" Target="/ppt/theme/theme1.xml" Id="R6e5ce741447445c2" /><Relationship Type="http://schemas.openxmlformats.org/officeDocument/2006/relationships/notesMaster" Target="/ppt/notesMasters/notesMaster1.xml" Id="R695776df0cca4b64" /><Relationship Type="http://schemas.openxmlformats.org/officeDocument/2006/relationships/presProps" Target="/ppt/presProps.xml" Id="Rd629d9f19b0b474a" /><Relationship Type="http://schemas.openxmlformats.org/officeDocument/2006/relationships/viewProps" Target="/ppt/viewProps.xml" Id="R27e83eecc50342ec" /><Relationship Type="http://schemas.openxmlformats.org/officeDocument/2006/relationships/tableStyles" Target="/ppt/tableStyles.xml" Id="Ra798d10c681841a4" /><Relationship Type="http://schemas.openxmlformats.org/officeDocument/2006/relationships/slide" Target="/ppt/slides/slide1.xml" Id="Rac8ae2aaca114fa1" /><Relationship Type="http://schemas.openxmlformats.org/officeDocument/2006/relationships/slide" Target="/ppt/slides/slide2.xml" Id="R25e6be0638b848a4" /><Relationship Type="http://schemas.openxmlformats.org/officeDocument/2006/relationships/slide" Target="/ppt/slides/slide3.xml" Id="R3bce4fe6edab449b" /><Relationship Type="http://schemas.openxmlformats.org/officeDocument/2006/relationships/slide" Target="/ppt/slides/slide4.xml" Id="Raaeb249614284586" /><Relationship Type="http://schemas.openxmlformats.org/officeDocument/2006/relationships/slide" Target="/ppt/slides/slide5.xml" Id="R1fda542255fd4c22" /><Relationship Type="http://schemas.openxmlformats.org/officeDocument/2006/relationships/slide" Target="/ppt/slides/slide6.xml" Id="R183cd9c4fcc0461a" /><Relationship Type="http://schemas.openxmlformats.org/officeDocument/2006/relationships/slide" Target="/ppt/slides/slide7.xml" Id="Re935122f4beb4ee7" /><Relationship Type="http://schemas.openxmlformats.org/officeDocument/2006/relationships/slide" Target="/ppt/slides/slide8.xml" Id="R507a80d460254150" /><Relationship Type="http://schemas.openxmlformats.org/officeDocument/2006/relationships/slide" Target="/ppt/slides/slide9.xml" Id="R0d1b60acfccf41db" /><Relationship Type="http://schemas.openxmlformats.org/officeDocument/2006/relationships/slide" Target="/ppt/slides/slide10.xml" Id="Rccedf5f1dbdf42d0" /><Relationship Type="http://schemas.openxmlformats.org/officeDocument/2006/relationships/slide" Target="/ppt/slides/slide11.xml" Id="R6338df05bdca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b9508b6cc9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5b5d64f53484d" /><Relationship Type="http://schemas.openxmlformats.org/officeDocument/2006/relationships/notesMaster" Target="/ppt/notesMasters/notesMaster1.xml" Id="R5625627509f7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935a076a045de" /><Relationship Type="http://schemas.openxmlformats.org/officeDocument/2006/relationships/notesMaster" Target="/ppt/notesMasters/notesMaster1.xml" Id="R8ffc20b17d534e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6e167b68b4182" /><Relationship Type="http://schemas.openxmlformats.org/officeDocument/2006/relationships/notesMaster" Target="/ppt/notesMasters/notesMaster1.xml" Id="R5be009f9dc82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40e8b997f24447" /><Relationship Type="http://schemas.openxmlformats.org/officeDocument/2006/relationships/notesMaster" Target="/ppt/notesMasters/notesMaster1.xml" Id="R44e629127b8848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960199f10f48f5" /><Relationship Type="http://schemas.openxmlformats.org/officeDocument/2006/relationships/notesMaster" Target="/ppt/notesMasters/notesMaster1.xml" Id="Rdfc3acb8556441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855459e2f447d8" /><Relationship Type="http://schemas.openxmlformats.org/officeDocument/2006/relationships/notesMaster" Target="/ppt/notesMasters/notesMaster1.xml" Id="Rdd07a06b66e2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5cee3fc0a14109" /><Relationship Type="http://schemas.openxmlformats.org/officeDocument/2006/relationships/notesMaster" Target="/ppt/notesMasters/notesMaster1.xml" Id="R9746206d0b2740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673148304e465f" /><Relationship Type="http://schemas.openxmlformats.org/officeDocument/2006/relationships/notesMaster" Target="/ppt/notesMasters/notesMaster1.xml" Id="R3dd977461b3740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b213aa5846499e" /><Relationship Type="http://schemas.openxmlformats.org/officeDocument/2006/relationships/notesMaster" Target="/ppt/notesMasters/notesMaster1.xml" Id="R508c7d496ae948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b1b83a4ac4292" /><Relationship Type="http://schemas.openxmlformats.org/officeDocument/2006/relationships/notesMaster" Target="/ppt/notesMasters/notesMaster1.xml" Id="R1cbb2c77530b4e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dcfd9952dc48c9" /><Relationship Type="http://schemas.openxmlformats.org/officeDocument/2006/relationships/notesMaster" Target="/ppt/notesMasters/notesMaster1.xml" Id="Ra03d712502f2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e612820464f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eaa36a87874f00" /><Relationship Type="http://schemas.openxmlformats.org/officeDocument/2006/relationships/slideLayout" Target="/ppt/slideLayouts/slideLayout2.xml" Id="R3025e54295ff4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25e54295ff4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cd5f4f10c4795" /><Relationship Type="http://schemas.openxmlformats.org/officeDocument/2006/relationships/image" Target="/ppt/media/image.jpeg" Id="Rca8ba392190d4fda" /><Relationship Type="http://schemas.openxmlformats.org/officeDocument/2006/relationships/image" Target="/ppt/media/image.png" Id="Re78b789dff214acc" /><Relationship Type="http://schemas.openxmlformats.org/officeDocument/2006/relationships/notesSlide" Target="/ppt/notesSlides/notesSlide1.xml" Id="Rbc9ecc441f6b4b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e21d375284181" /><Relationship Type="http://schemas.openxmlformats.org/officeDocument/2006/relationships/image" Target="/ppt/media/image2.png" Id="R3dfc5b87364d430c" /><Relationship Type="http://schemas.openxmlformats.org/officeDocument/2006/relationships/notesSlide" Target="/ppt/notesSlides/notesSlide2.xml" Id="Re50f075c40ab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a80b251e04c16" /><Relationship Type="http://schemas.openxmlformats.org/officeDocument/2006/relationships/image" Target="/ppt/media/image3.png" Id="Rad32b163a9334e46" /><Relationship Type="http://schemas.openxmlformats.org/officeDocument/2006/relationships/notesSlide" Target="/ppt/notesSlides/notesSlide3.xml" Id="Rd6228461e24349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ca7e2f617747f8" /><Relationship Type="http://schemas.openxmlformats.org/officeDocument/2006/relationships/image" Target="/ppt/media/image4.png" Id="Rdbe2c87b0cf34562" /><Relationship Type="http://schemas.openxmlformats.org/officeDocument/2006/relationships/notesSlide" Target="/ppt/notesSlides/notesSlide4.xml" Id="R91c306dbf4b5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3a625377944d2c" /><Relationship Type="http://schemas.openxmlformats.org/officeDocument/2006/relationships/image" Target="/ppt/media/image5.png" Id="R8246ecca259b4d23" /><Relationship Type="http://schemas.openxmlformats.org/officeDocument/2006/relationships/notesSlide" Target="/ppt/notesSlides/notesSlide5.xml" Id="R263933ff384d49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fa0ffdf64f4eb3" /><Relationship Type="http://schemas.openxmlformats.org/officeDocument/2006/relationships/image" Target="/ppt/media/image6.png" Id="R58238a69959c49e9" /><Relationship Type="http://schemas.openxmlformats.org/officeDocument/2006/relationships/notesSlide" Target="/ppt/notesSlides/notesSlide6.xml" Id="R219af6cb3cdb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61563a7f734ab7" /><Relationship Type="http://schemas.openxmlformats.org/officeDocument/2006/relationships/image" Target="/ppt/media/image7.png" Id="R7a4858fbb6fc4f0f" /><Relationship Type="http://schemas.openxmlformats.org/officeDocument/2006/relationships/notesSlide" Target="/ppt/notesSlides/notesSlide7.xml" Id="R5277a2b2e8ca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8b33c3d62544c7" /><Relationship Type="http://schemas.openxmlformats.org/officeDocument/2006/relationships/image" Target="/ppt/media/image8.png" Id="R9ea853a9c7014a3e" /><Relationship Type="http://schemas.openxmlformats.org/officeDocument/2006/relationships/notesSlide" Target="/ppt/notesSlides/notesSlide8.xml" Id="R2a63ebbf097247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2f0c290a9404c" /><Relationship Type="http://schemas.openxmlformats.org/officeDocument/2006/relationships/image" Target="/ppt/media/image9.png" Id="R422331559d7b4381" /><Relationship Type="http://schemas.openxmlformats.org/officeDocument/2006/relationships/notesSlide" Target="/ppt/notesSlides/notesSlide9.xml" Id="Rfb4f1f9d652a48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71a4e54207410e" /><Relationship Type="http://schemas.openxmlformats.org/officeDocument/2006/relationships/image" Target="/ppt/media/image10.png" Id="Rea5d425749db4c59" /><Relationship Type="http://schemas.openxmlformats.org/officeDocument/2006/relationships/notesSlide" Target="/ppt/notesSlides/notesSlide10.xml" Id="Rff84ffcf541e41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4882cf6454153" /><Relationship Type="http://schemas.openxmlformats.org/officeDocument/2006/relationships/image" Target="/ppt/media/image11.png" Id="Rd12e3f2b572a4a41" /><Relationship Type="http://schemas.openxmlformats.org/officeDocument/2006/relationships/notesSlide" Target="/ppt/notesSlides/notesSlide11.xml" Id="Rc66615f83c6042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D2CE943-21CA-46DE-A63D-C3D38BE0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2" name="cover-bann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ba392190d4fda"/>
          <a:srcRect xmlns:a="http://schemas.openxmlformats.org/drawingml/2006/main" l="0" t="3092" r="0" b="30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29051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5BCE4-4A63-48A0-B57C-84636AE4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773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SEO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8D034-5C4D-43E1-AC84-1D0BA16F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726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אפריל 2026</a:t>
            </a:r>
          </a:p>
        </p:txBody>
      </p:sp>
      <p:pic>
        <p:nvPicPr>
          <p:cNvPr id="5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b789dff214acc"/>
          <a:stretch xmlns:a="http://schemas.openxmlformats.org/drawingml/2006/main"/>
        </p:blipFill>
        <p:spPr>
          <a:xfrm xmlns:a="http://schemas.openxmlformats.org/drawingml/2006/main">
            <a:off x="15335250" y="4254579"/>
            <a:ext cx="2952750" cy="12253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02260-5860-42A5-BC7B-B850E676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53100"/>
            <a:ext cx="112395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3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73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מחקר SEO</a:t>
            </a:r>
          </a:p>
          <a:p xmlns:a="http://schemas.openxmlformats.org/drawingml/2006/main">
            <a:pPr algn="r">
              <a:defRPr sz="73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73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לבארי אריזות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556A1-94A5-443C-9881-FF5E56E3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229600"/>
            <a:ext cx="1123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550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550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שאלות משתמשים, נושאי תוכן ומבנה אתר מומלץ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32D04-C9FB-434D-8BE8-9861431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915400"/>
            <a:ext cx="1047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F7ACF-C069-48E7-8312-237D93DB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915400"/>
            <a:ext cx="1047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6C980-C1AE-4CDB-B472-797573C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8915400"/>
            <a:ext cx="1047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F1792-6329-427A-876C-2E6E542A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8915400"/>
            <a:ext cx="1047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</p:spTree>
    <p:extLst>
      <p:ext uri="{BB962C8B-B14F-4D97-AF65-F5344CB8AC3E}">
        <p14:creationId xmlns:p14="http://schemas.microsoft.com/office/powerpoint/2010/main" val="12049662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62F960-73FF-437A-B72E-5C97A3D6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B87A1-212C-4847-8B58-FC43F4EC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01 / התובנה המרכזית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c5b87364d430c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F4647-2969-4EE0-B7EA-D0004C2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478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2522D-3B70-4AA6-802B-DF82B5E2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4668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8D8"/>
          </a:solidFill>
          <a:ln xmlns:a="http://schemas.openxmlformats.org/drawingml/2006/main" w="0">
            <a:solidFill>
              <a:srgbClr val="20C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F4EE5-254D-4477-AC15-D3725F17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66116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1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61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הלקוחות לא מחפשים רק "אריזות".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26246-CA5D-4043-B18B-18273328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6611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850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850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הם מחפשים ביטחון שהאריזה תתאים למוצר, לתהליך, למותג ולתקציב.</a:t>
            </a:r>
          </a:p>
        </p:txBody>
      </p:sp>
      <p:sp>
        <p:nvSpPr>
          <p:cNvPr id="8" name="spacer">
            <a:extLst xmlns:a="http://schemas.openxmlformats.org/drawingml/2006/main">
              <a:ext uri="{FF2B5EF4-FFF2-40B4-BE49-F238E27FC236}">
                <a16:creationId xmlns:a16="http://schemas.microsoft.com/office/drawing/2014/main" id="{77B99EC5-9C99-4004-B356-896A1671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661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33A77-7491-4C53-9D46-B3D74739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781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האריזה תחזיק משקל, קירור או נוזלים?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B859E-C7DC-4AEA-922D-D0B4264C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CCAB5-BCB3-4DA2-9E8D-40AC516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781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כמה זמן זה לוקח ומה משפיע על המחיר?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D59A3-086C-4E9C-A3EF-1AC7814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191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0C691-D258-4CF9-810C-CCEFF433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781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איזה חומר, שטנץ וקובץ צריך להכין?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CCC80-01F7-4E1A-820C-2D02D21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3A0EF-08CE-4E41-A3AB-444A339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24400"/>
            <a:ext cx="781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איך יוצרים מראה פרימיום וחוויית פתיחה?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A0909-9CE4-4071-8CDC-0F29AE90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724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7" name="spacer">
            <a:extLst xmlns:a="http://schemas.openxmlformats.org/drawingml/2006/main">
              <a:ext uri="{FF2B5EF4-FFF2-40B4-BE49-F238E27FC236}">
                <a16:creationId xmlns:a16="http://schemas.microsoft.com/office/drawing/2014/main" id="{AA87FE9B-E85C-4DB3-B277-BA207C4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661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34834-53ED-40A6-B8CE-2F8E0B3C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661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2175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המשמעות: האתר צריך לענות על פחדים מסחריים וטכניים לפני שהוא מבקש מהלקוח להשאיר פרטים.</a:t>
            </a:r>
          </a:p>
        </p:txBody>
      </p:sp>
    </p:spTree>
    <p:extLst>
      <p:ext uri="{BB962C8B-B14F-4D97-AF65-F5344CB8AC3E}">
        <p14:creationId xmlns:p14="http://schemas.microsoft.com/office/powerpoint/2010/main" val="5370605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183AABD-65DD-42D2-B7CD-F02A8D92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1FAFC-2717-4F99-89CD-E917ADD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02 / מי שואל את השאלות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2b163a9334e46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8D646-E4CB-4BA8-8324-2A8AE3EB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מפת כוונות חיפוש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727A5-53CA-4159-8855-0BFC598A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661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325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325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אותו מוצר נמכר לאנשים שונים בתוך הארגון. כל אחד מהם מחפש ודאות מסוג אחר.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9351655F-7453-405A-8A74-0AA0D14A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C0E73-FBF6-40AF-9EB7-BFE886E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שיווק ומותג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3BE49-5D6B-435B-BFFB-E9BC01A5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70D10-CDD3-4309-BED2-E7CBCFF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איך האריזה מחזקת בידול?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8694F-A5B0-418B-99F1-8A54FE75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86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53AA3-97C7-47D4-ACD8-D9F4DBC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איזה גימור נראה פרימיום?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4578A-CD53-404E-8E45-2F833B61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CF607-23F5-4A4D-B1C2-5260F5F6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אפשר להדפיס בתוך הקופסה?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CAAA5-52EF-499B-A082-58772FF9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D9366-FE41-4F9B-BF4A-5E0336DE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מוצר ופיתוח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45D53-A3DA-4652-9816-05E63B5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557A3-1829-446B-993C-DA5A51B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86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איזה מבנה מתאים למוצר?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3E42A-C6F9-4F8D-87CC-B0F4AAD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F3B4B-9CEE-421F-A667-D465946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815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צריך חוצצים או מגש?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3A670-3E4F-4F6E-B081-3BB252D6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81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24BF6-7592-4F4C-8259-8789A87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768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איך מתכננים למוצר שביר?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5ACEF-F18F-485A-9484-145DD25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76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8DB0F-20C1-4407-BC53-75DA28C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רכש ותפעול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3E211-2457-411A-B8CD-E8D892C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581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65338-0CC8-49A9-9634-D49D75B2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כמות מינימום?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5B323-4BAA-4D03-BDFA-7443C18C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886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86CDA1-3980-400C-9C5D-31C94404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815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זמן הייצור?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133EF-28CC-4E26-AC67-A2B22D9A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381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1DAE4-FC86-4566-8D61-D9055EF7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768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אפשר לקבל דוגמה?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07FBE-21F8-4E80-B691-CE411F8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876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008B1-2AC6-4C19-98B4-6B5F8796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486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ענפים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AC20F4-D2BB-45A3-8A3A-25F377E9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3581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9282B4-A4BB-4157-8759-A24DC20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886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מזון, יין, פארמה, קוסמטיקה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873E2-4821-4B14-9E45-1D193602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886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93A752-9B14-4AA0-B551-34680B9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3815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קירור, לחות ונוזלים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62F675-68B3-476B-8D5E-78ECB161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381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72B13-549D-4312-8541-2DB2684F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8768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תקנים ודרישות שימוש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9B4FB0-2868-48E7-AE0B-A7E70585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876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9" name="spacer">
            <a:extLst xmlns:a="http://schemas.openxmlformats.org/drawingml/2006/main">
              <a:ext uri="{FF2B5EF4-FFF2-40B4-BE49-F238E27FC236}">
                <a16:creationId xmlns:a16="http://schemas.microsoft.com/office/drawing/2014/main" id="{0885D82B-BA48-4E02-92C4-538ADC41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661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87CDAD-4D55-42DE-A74D-72B0A192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21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מסקנה מעשית: לא לבנות רק עמוד מוצר. לבנות מערכת תוכן שמכסה תפקידים, שאלות וענפים.</a:t>
            </a:r>
          </a:p>
        </p:txBody>
      </p:sp>
    </p:spTree>
    <p:extLst>
      <p:ext uri="{BB962C8B-B14F-4D97-AF65-F5344CB8AC3E}">
        <p14:creationId xmlns:p14="http://schemas.microsoft.com/office/powerpoint/2010/main" val="21331991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9F019D-D36A-412E-893C-6D91A65B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639D9-929F-4160-9049-2F91717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03 / ארכיטקטורת מילות מפתח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2c87b0cf34562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191C9-3B57-40B8-A148-F0D3E437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אשכולות החיפוש החשובים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AB514-1C14-4FBE-9ED8-1B842A9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661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250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250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האתר צריך להיבנות סביב ביטוי מסחרי רחב, ואז להעמיק לפי ענף, בעיה וטכנולוגיית ייצור.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2E4013E3-E930-4502-909F-6A8EB1A4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13D41-E3F0-45F2-906C-65CDFBDC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6611600" cy="659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EEC95-84CB-4387-9B22-E45FE946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אשכול ראשי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FFEA6-CC12-4A71-B461-75C72B7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769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325" b="1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אריזות קרטון ממותגות בהתאמה אישית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9EACB-5122-4BD9-BD5D-364270B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6385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עמוד שירות מרכזי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0636F-1D46-4A05-945F-DA81C64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9580"/>
            <a:ext cx="16611600" cy="57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91791-FA3C-4A4F-ADC8-2FE1EB79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800F8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F800F8"/>
                </a:solidFill>
                <a:latin typeface="Arial Hebrew"/>
                <a:ea typeface="Arial Hebrew"/>
                <a:cs typeface="Arial Hebrew"/>
              </a:rPr>
              <a:t>ענפים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D2DBF-A138-436E-9204-BB7F88E6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יין ומשקאות | מזון | קוסמטיקה | פארמה | תעשייה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45DA7-4306-4447-B96C-D55A28E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41960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עמודי נחיתה לפי שוק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3DCDE-55AD-4F1E-B9A7-3899441C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6611600" cy="57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3265F-DD33-48B9-8F62-869A4E1D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rPr>
              <a:t>טכני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E85B8-5F37-4ADD-92B3-A38FD4C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435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משקל כבד | קירור | נוזלים | חוצצים | שטנץ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1C924-6037-4ED8-A25C-198E766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14350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מדריכים ושאלות נפוצות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F5D8F-51CE-498B-A07E-4E9523C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2620"/>
            <a:ext cx="16611600" cy="57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245BF-A8BF-4CAA-929F-89EF355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8D838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F8D838"/>
                </a:solidFill>
                <a:latin typeface="Arial Hebrew"/>
                <a:ea typeface="Arial Hebrew"/>
                <a:cs typeface="Arial Hebrew"/>
              </a:rPr>
              <a:t>פרימיום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0CAC5-0E96-4407-BBC8-0188DE43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864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השבחות דפוס | פויל | לכה | הבלטה | Unboxing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6969F-EAAC-4581-A780-233F72E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8864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עמוד השבחות ותוכן מותג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EEC63-397B-422D-84AB-853BF846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4140"/>
            <a:ext cx="16611600" cy="57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6F733-2360-4811-9B24-6912D78D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קיימות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1A25D-D1CC-4EC6-B362-849F0AD5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61035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קרטון מתמחזר | חומרי גלם | פחות בזבוז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E9386-5346-4350-BD68-E6DB2ADE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6103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עמוד אמון ומדריכים</a:t>
            </a:r>
          </a:p>
        </p:txBody>
      </p:sp>
    </p:spTree>
    <p:extLst>
      <p:ext uri="{BB962C8B-B14F-4D97-AF65-F5344CB8AC3E}">
        <p14:creationId xmlns:p14="http://schemas.microsoft.com/office/powerpoint/2010/main" val="20439893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1DD696-83E9-4CDF-9ECC-29AEAF5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83380-6D67-422A-B3C6-26500DA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04 / שאלות משתמשים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6ecca259b4d23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AA683-50CC-4CE7-9778-3C12963E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ה-SEO מתחיל מהשאלות שחוזרות בשיחת המכירה</a:t>
            </a:r>
          </a:p>
        </p:txBody>
      </p:sp>
      <p:sp>
        <p:nvSpPr>
          <p:cNvPr id="5" name="spacer">
            <a:extLst xmlns:a="http://schemas.openxmlformats.org/drawingml/2006/main">
              <a:ext uri="{FF2B5EF4-FFF2-40B4-BE49-F238E27FC236}">
                <a16:creationId xmlns:a16="http://schemas.microsoft.com/office/drawing/2014/main" id="{41FB7FD9-9820-4EC5-AD94-26B5B597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6611600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D571B-17AD-4057-A159-8C6B6BCD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24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שאלות שצריך להפוך לתוכן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018D-BCC4-46CD-B879-1D97B23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איך בוחרים אריזת קרטון למוצר?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19709-39D0-46AA-BCD2-00712E53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8B5EC-3269-4751-A2C4-0CF6E20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איזה קרטון מתאים למשקל כבד?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E2654-916A-4195-A3AF-3089372D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114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79CCF-02AD-4380-A573-A8EAEE7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קרטון מתאים לאחסון בקירור?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EF3D7-48CB-4846-A8F6-6538009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48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3ED9C-9AED-43CB-A343-7AA56D54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צריך לשלוח כדי לקבל הצעת מחיר?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2AF5A-8188-40F0-A3C0-7F19721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143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8C494-AFB8-4CF6-A660-083B34E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ההבדל בין דפוס דיגיטלי לאופסט?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D37B3-9144-4D46-92A7-0A57398A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676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F28F4-0362-4B52-B18D-73480E57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7220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זה דייליין, שטנץ ומבלט?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53A19-020B-466D-A1B7-C98D7DF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72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F2915-2E5B-4891-BEA4-3483F510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76225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180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השאלה הגדולה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85B0D-BD41-421E-926D-9E557946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81350"/>
            <a:ext cx="5334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57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האם האריזה</a:t>
            </a:r>
          </a:p>
          <a:p xmlns:a="http://schemas.openxmlformats.org/drawingml/2006/main">
            <a:pPr algn="r">
              <a:defRPr sz="57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57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תעמוד בתנאים</a:t>
            </a:r>
          </a:p>
          <a:p xmlns:a="http://schemas.openxmlformats.org/drawingml/2006/main">
            <a:pPr algn="r">
              <a:defRPr sz="57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57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של המוצר שלי?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543D1-EF4D-43C5-AEBE-61AA811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94360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00F8"/>
          </a:solidFill>
          <a:ln xmlns:a="http://schemas.openxmlformats.org/drawingml/2006/main" w="0">
            <a:solidFill>
              <a:srgbClr val="F800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57F2E-7FFC-49FD-B8BC-6149370A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172200"/>
            <a:ext cx="5334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כל עמוד SEO טוב צריך לענות עליה מזווית אחרת: חומר, מבנה, דפוס, שינוע, אחסון וחוויית משתמש.</a:t>
            </a:r>
          </a:p>
        </p:txBody>
      </p:sp>
    </p:spTree>
    <p:extLst>
      <p:ext uri="{BB962C8B-B14F-4D97-AF65-F5344CB8AC3E}">
        <p14:creationId xmlns:p14="http://schemas.microsoft.com/office/powerpoint/2010/main" val="690816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FE628F5-623D-4CE6-AAB7-6CA5BEF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60F67-F06B-45A8-AAED-941E1C0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05 / מבנה אתר מומלץ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38a69959c49e9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23FF1-DCFF-4BAA-B642-EAE7EADC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להפוך שאלות לעמודים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8A1EE-947D-4D1F-827D-1A20DE22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661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250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250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המבנה הנכון יוצר מסלול: הבנה מהירה, אמון מקצועי ואז פנייה לשיחת התאמה.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843C2EC7-CB1B-47C9-AA3F-5C809E9B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47A5A-ED3C-43D0-BD3E-B0599BA8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עמודי ליבה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7F0B8-B28F-4F3D-A4BB-F17423CC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433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C3420-F76C-4869-BF2C-A0D4B8CF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עמוד בית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44A75-7C53-4B34-8FDC-B0794DA2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DA2E3-83EB-49AD-83DF-987EC15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אריזות קרטון ממותגות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94396-7F29-4ED9-913B-B5E0BB0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E1AAE-3C98-42D5-81F8-9A6C482C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תהליך העבודה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C9729-CB4B-4892-A897-19DFF5B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F66CF-128A-4584-9530-E784F64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פרויקטים ודוגמאות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3EA52-BF9E-4284-8D15-CFF452D1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81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13B64-D5BE-4855-9EDA-B8E21B38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עמודים לפי ענף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D3ADD-6BF8-459F-ABEB-D1CF430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5433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986E3-BD92-4834-A978-E8681A27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יין ומשקאות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533BC-196A-4030-BC1F-40F1E3D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810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4EA8C-17A5-4A92-AE7D-79D57488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מזון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36091-4D36-4773-B955-9492409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267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D575C-E141-483B-993E-65071C1C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קוסמטיקה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CCB7A-980A-4A84-B3CC-051CCAEC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724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8AF39-FE5F-443B-9249-B7250E3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816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פארמה ותעשייה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34F12-12B4-4D80-99E1-AA19E8B1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181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2D45A-5E6F-4917-9003-52A06609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4480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עמודי עומק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1B99C-3FB9-4510-8A1A-6F2B5652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35433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31C8C-5268-422A-AC0E-0B27626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100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השבחות דפוס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5FFC91-A7FA-4EB1-87F9-6596A46D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810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88D90-CE50-49C2-BBA9-0EEAFD8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2672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חומרי גלם ועמידות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57365D-49C0-4633-8AC8-6CEDBBD6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267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0E990-AC66-4CCF-8134-12111C5C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244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קיימות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8CFD2-2E8A-45B6-AD87-2F8AE73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724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7838AF-5831-4469-80A2-8B7DEDF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181600"/>
            <a:ext cx="504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FAQ ומאמרים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A1B8EB-7F90-4023-8A8B-6D343E93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5181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7" name="spacer">
            <a:extLst xmlns:a="http://schemas.openxmlformats.org/drawingml/2006/main">
              <a:ext uri="{FF2B5EF4-FFF2-40B4-BE49-F238E27FC236}">
                <a16:creationId xmlns:a16="http://schemas.microsoft.com/office/drawing/2014/main" id="{71B2B9D6-2D10-4824-9279-A84AD57B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661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C90F61-6FF9-46F9-9000-0EBC05F3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0555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21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בכל עמוד מסחרי: דוגמאות, יכולות ייצור, שאלות נפוצות וקריאה ברורה לקביעת שיחת התאמה.</a:t>
            </a:r>
          </a:p>
        </p:txBody>
      </p:sp>
    </p:spTree>
    <p:extLst>
      <p:ext uri="{BB962C8B-B14F-4D97-AF65-F5344CB8AC3E}">
        <p14:creationId xmlns:p14="http://schemas.microsoft.com/office/powerpoint/2010/main" val="10536436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760AEC9-6E51-44E4-8A80-368374A3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31B02-997B-4431-B64A-246F05D1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06 / תוכן ומאמרים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858fbb6fc4f0f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83ED2-66CD-4AAE-9EA4-839FBD3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רודמאפ מאמרים לפתיחה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55E83-837F-431D-9457-54F7FE7B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661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המאמרים הראשונים צריכים לענות על שאלות שמגיעות לפני הצעת מחיר.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91C18F70-F498-4213-850C-86E13E3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F3569-CD1C-4818-9CB9-4594DE43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947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60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48FD-E254-4718-83ED-1293461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rPr>
              <a:t>כוונת חיפוש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AD6D0-E1D9-4F54-8492-F4CEE96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rPr>
              <a:t>נושא המאמר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6E018-CC60-4DE4-A820-DC52E9DC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5242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rPr>
              <a:t>למה זה חשוב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F5341-2AFA-4B6F-8047-2941AD9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193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15305-18AA-486C-8D91-778D3052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בחירה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C6276-E3BA-4296-9CB8-F10E5671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איך לבחור אריזת קרטון ממותגת למוצר חדש?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5BEA1-B96B-4683-A45F-E4AAD7B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15290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כניסה רחבה למשפך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8CBB1-D36D-4ED3-95B7-FCFD8BD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439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BDD27-2547-41D2-B748-2190F317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8D838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F8D838"/>
                </a:solidFill>
                <a:latin typeface="Arial Hebrew"/>
                <a:ea typeface="Arial Hebrew"/>
                <a:cs typeface="Arial Hebrew"/>
              </a:rPr>
              <a:t>מחיר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B4D30-BE49-469C-A2D1-E77E7FB6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צריך לשלוח כדי לקבל הצעת מחיר לאריזה?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3F1EF-1447-43AB-BA64-B2FA9CC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7815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מייצר ליד איכותי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4B205-BB8A-4ABB-9AA9-A03069A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945F8-11E6-4B10-8382-1D155CB6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rPr>
              <a:t>עמידות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DEC32-C108-4DEE-8B65-2DB9C324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292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אריזות למשקלים כבדים: איך מתכננים חוזק?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4C566-3B73-4D72-A309-B0A1049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4292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תואם לשאלון הלקוח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FD1FA-2FB7-4096-AB50-7FBDB0F7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931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57402-AED1-49F3-A407-F043D3DC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5790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rPr>
              <a:t>קירור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9DF83-F73B-414B-B361-8204C8D1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057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אריזות לאחסון בקירור: מה חשוב לבדוק?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5C709-8B22-4ED6-A08B-C704D7FF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05790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שאלה חוזרת מהלקוחות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8EE39-6076-4CC9-B104-BF70BD1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4177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F57A9-F51C-4A92-A3B4-D7C50B23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8655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800F8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F800F8"/>
                </a:solidFill>
                <a:latin typeface="Arial Hebrew"/>
                <a:ea typeface="Arial Hebrew"/>
                <a:cs typeface="Arial Hebrew"/>
              </a:rPr>
              <a:t>פרימיום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A0044-679D-4ACD-89E5-A7EB35BB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6865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השבחות דפוס באריזות: פויל, לכה והבלטה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93ED8-3F2D-4D0E-9A8A-5E5A2631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68655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מבדל מול מתחרים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878C4-9615-4D40-8D40-FF7BAEB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74230"/>
            <a:ext cx="1661160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2B8AC-63D7-4A65-9E93-C400574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15200"/>
            <a:ext cx="320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165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תהליך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9E085D-EC4E-4FE6-BE1A-E8282464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3152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זה דייליין ולמה הוא חשוב בעיצוב אריזות?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FDF66D-5874-4B73-B03F-061E707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31520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מוריד חסמים טכניים</a:t>
            </a:r>
          </a:p>
        </p:txBody>
      </p:sp>
    </p:spTree>
    <p:extLst>
      <p:ext uri="{BB962C8B-B14F-4D97-AF65-F5344CB8AC3E}">
        <p14:creationId xmlns:p14="http://schemas.microsoft.com/office/powerpoint/2010/main" val="14078773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BFAF35F-23A9-4380-972D-4477118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1970B-5B0D-44C6-90F6-E1CCA55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07 / FAQ שממיר לפנייה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853a9c7014a3e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EA091-F863-48D7-9A44-7FFDE05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35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שאלות נפוצות הן לא תוספת. הן מנגנון מכירה.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5E13-7C92-41DC-8A5B-8AE7BD30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661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325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325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הן עונות על ההתנגדויות עוד לפני שהלקוח מדבר עם איש מכירות.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3E9808CD-26F7-4D89-923A-EBAD2E89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5A21-1206-4294-A52A-BE0A396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כמות המינימום להזמנה?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FF7D3-45E9-4A2D-BDE2-67CF0CE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671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85ABF-25FA-4160-BB68-7D5105F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כמה זמן לוקח לייצר?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749AD-C497-4B83-8FD4-5A1CD59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4671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6B32-A028-473F-8FCA-438731D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44805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אפשר לקבל אב-טיפוס?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8277A-357C-48FA-BE58-CA79E674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4671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90973-6539-4C56-89C7-1E551FA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איזה קובץ גרפי צריך לשלוח?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26B37-E320-4D06-98B7-0F320953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00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C1185-39FE-4121-8806-5D13841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מה משפיע על מחיר האריזה?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0C000-2AA6-414E-B49E-B9E89014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000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5EDCA-4C1E-46A2-A5B3-CC4A20FF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00050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איזה חומר מתאים למוצר שלי?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E162C-C1A4-42C5-B3FC-24D39F2D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0005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EBDD3-2962-4856-A946-15D5884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האריזה מתאימה למזון?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DBD0E-BF97-446C-BA59-AB659CC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DBA6E-74F4-48EF-9DA1-9FBB2F62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האם אפשר לבצע הזמנה חוזרת?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4825D-C24C-4A72-A36D-F0B79174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533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ABE32-F89A-4542-916C-B4F7001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533900"/>
            <a:ext cx="506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איך מתחילים תהליך אפיון?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E5CE-4A99-4C85-81D4-F60050A1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533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25" name="spacer">
            <a:extLst xmlns:a="http://schemas.openxmlformats.org/drawingml/2006/main">
              <a:ext uri="{FF2B5EF4-FFF2-40B4-BE49-F238E27FC236}">
                <a16:creationId xmlns:a16="http://schemas.microsoft.com/office/drawing/2014/main" id="{BCB08961-CB3B-4DA6-903F-2D3CEAA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661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9EBA0-24BA-4598-8139-5C1B07D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0230"/>
            <a:ext cx="16611600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6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A6AEA-E1F6-4449-814E-0358CEFA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16078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defRPr>
            </a:pPr>
            <a:r>
              <a:rPr sz="2100" b="1">
                <a:solidFill>
                  <a:srgbClr val="FFFFFF"/>
                </a:solidFill>
                <a:latin typeface="Arial Hebrew"/>
                <a:ea typeface="Arial Hebrew"/>
                <a:cs typeface="Arial Hebrew"/>
              </a:rPr>
              <a:t>CTA מומלץ: לקביעת שיחת התאמה | קבלת הכוונה לבחירת אריזה | שליחת מפרט לקבלת הצעה</a:t>
            </a:r>
          </a:p>
        </p:txBody>
      </p:sp>
    </p:spTree>
    <p:extLst>
      <p:ext uri="{BB962C8B-B14F-4D97-AF65-F5344CB8AC3E}">
        <p14:creationId xmlns:p14="http://schemas.microsoft.com/office/powerpoint/2010/main" val="17755543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BB9D0E1-9D53-457D-AB66-4F743E0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DCEE8-18F8-4350-A6E6-DF8207B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08 / מיצוב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331559d7b4381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A67A3-8DEA-480C-857F-90694ED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54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לא חנות קופסאות. ספק B2B מקצה לקצה.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6365C-E726-4C65-A68B-6A1EDE66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6611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400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האתר צריך להרגיש כמו גוף תעשייתי איכותי שמלווה מותגים מובילים, לא כמו קטלוג זול של מוצרי מדף.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5E636A00-5864-4840-9FD8-0069BD80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6611600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7EC1C-D871-40E5-8C77-F8901D0C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להדגיש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E2EE1-0373-4EC1-B0A2-C5379BE9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3BFA4-EC12-4F2E-BD03-A46DA866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פתרון מקצה לקצה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0374-B6BA-46F5-A394-5793A7E7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62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7463C-5FD2-447F-8799-C250693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תכנון מבני + דפוס + השבחות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D5B8F-7796-4D8E-907E-71EDB74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577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4DE25-BF1C-46F5-98E8-3530922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חומרי גלם ואיכות ייצור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6A7FC-B47F-48BE-B82D-C1A57E77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53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4CB31-E134-4A3A-9A9C-24C96AF3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ליווי אישי והתאמה למוצר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A68D8-9F96-45B4-BC26-6E24F854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483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37940-FC78-4736-9E0B-54FF0C69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381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97729-24C8-4CF2-8021-0B032D0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739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500" b="1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לא להיתקע על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DE76F-5EB9-476B-A476-1CAAEAD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36576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BC5B6-CA63-4B54-A9CB-A091BB78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רשימות מוצרים בלי הקשר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26B7F-7665-4583-9998-DFE596B4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962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CFE64-832A-4648-AB90-B8F6AC13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טקסט גנרי על אריזות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C2627-172F-4E08-AC5D-5A83EB7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4577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21DFE-6094-432B-B156-8B0F2D6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מחיר לפני התאמה מקצועית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062BD-627D-4DDB-9D74-9707BB3D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9530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46DDC-6E2E-41AF-BECA-E10FAFE0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4830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202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עמודים שלא עונים על שאלות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2F8B2-DA74-406A-B742-1820769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54483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</p:spTree>
    <p:extLst>
      <p:ext uri="{BB962C8B-B14F-4D97-AF65-F5344CB8AC3E}">
        <p14:creationId xmlns:p14="http://schemas.microsoft.com/office/powerpoint/2010/main" val="1745557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C12537D-620C-4D6C-9744-E1FECBB3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3444-8D68-470E-A468-E49AEB8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09 / תוכנית עבודה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d425749db4c59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1A8A0-FECD-446F-BF84-4D555A6B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מה לעשות ב-30 הימים הקרובים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6EF00-E76E-48EC-AD32-F41E37ED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661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250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250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המטרה היא לבנות בסיס SEO שמשרת גם גוגל וגם שיחות מכירה.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79ACB0A8-06A2-41DC-B0B2-F74F9DF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C001C-86E2-4355-B57F-1049DA2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defRPr>
            </a:pPr>
            <a:r>
              <a:rPr sz="3450" b="1">
                <a:solidFill>
                  <a:srgbClr val="009FE3"/>
                </a:solidFill>
                <a:latin typeface="Arial Hebrew"/>
                <a:ea typeface="Arial Hebrew"/>
                <a:cs typeface="Arial Hebrew"/>
              </a:rPr>
              <a:t>שבוע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51CEC-EDF4-4F1A-A19F-C080615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96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8D8"/>
          </a:solidFill>
          <a:ln xmlns:a="http://schemas.openxmlformats.org/drawingml/2006/main" w="0">
            <a:solidFill>
              <a:srgbClr val="20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0EF50-2170-47D5-85FD-2F329E78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לסגור מילות מפתח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16F25-F4F8-46A1-9F52-7E75BB56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19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D7B7A-F815-4E0A-97A9-49539EB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לאסוף דוגמאות ופרויקטים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EEFFC-E3C6-4E44-85EA-485DD92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14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13C62-26C0-4CB4-A805-C8FF3BE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לסדר קטגוריות מוצרים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54583-DBA7-4064-A3E6-3E557F3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10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02E3C-8020-479F-B2C9-ECE6C5A4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F800F8"/>
                </a:solidFill>
                <a:latin typeface="Arial Hebrew"/>
                <a:ea typeface="Arial Hebrew"/>
                <a:cs typeface="Arial Hebrew"/>
              </a:defRPr>
            </a:pPr>
            <a:r>
              <a:rPr sz="3450" b="1">
                <a:solidFill>
                  <a:srgbClr val="F800F8"/>
                </a:solidFill>
                <a:latin typeface="Arial Hebrew"/>
                <a:ea typeface="Arial Hebrew"/>
                <a:cs typeface="Arial Hebrew"/>
              </a:rPr>
              <a:t>שבוע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D8CD6-6F03-4F23-AEE2-FAB4D8FE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396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00F8"/>
          </a:solidFill>
          <a:ln xmlns:a="http://schemas.openxmlformats.org/drawingml/2006/main" w="0">
            <a:solidFill>
              <a:srgbClr val="F800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A873C-420D-4C09-B469-5E4AEE1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96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לכתוב עמוד שירות ראשי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00E1A-9A29-48C3-BD94-B7E91D75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9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E389E-7FE8-4F5C-88D5-D9E52FA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לבנות עמודי ענפים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7DAB0-4DF8-47D6-8183-4E0BC0C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1E181-9C9A-4DCC-8B29-F335DFB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10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להגדיר CTA לכל עמוד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ADE32-AE1B-4927-9FA3-5FF78007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10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D4DC9-6053-482C-A245-005F40F4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defRPr>
            </a:pPr>
            <a:r>
              <a:rPr sz="3450" b="1">
                <a:solidFill>
                  <a:srgbClr val="8008F0"/>
                </a:solidFill>
                <a:latin typeface="Arial Hebrew"/>
                <a:ea typeface="Arial Hebrew"/>
                <a:cs typeface="Arial Hebrew"/>
              </a:rPr>
              <a:t>שבוע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714EB-D79D-4282-818A-0B0E683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91000"/>
            <a:ext cx="396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08F0"/>
          </a:solidFill>
          <a:ln xmlns:a="http://schemas.openxmlformats.org/drawingml/2006/main" w="0">
            <a:solidFill>
              <a:srgbClr val="800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EB99A-FDF0-4A14-960D-24C7692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196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לכתוב FAQ מסחרי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79958-8C8E-46AE-9714-09C8FB08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419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0676D-B552-4723-8FFB-B8B6837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149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לפרסם 2-3 מאמרים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18996-0495-4031-BA43-68657622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14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67F27-DE9E-47A3-A33D-06FA4402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10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לשלב פנימית בין העמודים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82B23-3A1A-4AC8-A41F-113387A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410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BACBE-AA63-4D95-A1D1-578B4D79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48615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F8D838"/>
                </a:solidFill>
                <a:latin typeface="Arial Hebrew"/>
                <a:ea typeface="Arial Hebrew"/>
                <a:cs typeface="Arial Hebrew"/>
              </a:defRPr>
            </a:pPr>
            <a:r>
              <a:rPr sz="3450" b="1">
                <a:solidFill>
                  <a:srgbClr val="F8D838"/>
                </a:solidFill>
                <a:latin typeface="Arial Hebrew"/>
                <a:ea typeface="Arial Hebrew"/>
                <a:cs typeface="Arial Hebrew"/>
              </a:rPr>
              <a:t>שבוע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7629B-51DC-4BA2-8D9C-9976B7E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191000"/>
            <a:ext cx="3962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838"/>
          </a:solidFill>
          <a:ln xmlns:a="http://schemas.openxmlformats.org/drawingml/2006/main" w="0">
            <a:solidFill>
              <a:srgbClr val="F8D8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BDA50-F059-4AB7-9228-9780B69B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4196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להעלות Search Console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9E3C0-F20C-44DF-9320-003AF364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419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B4A0DA-0899-4F7D-A8E3-246CDE4A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9149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למדוד שאילתות ולידים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78A85-75D0-4D3B-AB81-BD06995A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914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D1B310-13B4-497E-8008-714673FF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4102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75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לשפר לפי נתונים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8767BA-FE54-4D05-87D6-0B73F423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54102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39" name="spacer">
            <a:extLst xmlns:a="http://schemas.openxmlformats.org/drawingml/2006/main">
              <a:ext uri="{FF2B5EF4-FFF2-40B4-BE49-F238E27FC236}">
                <a16:creationId xmlns:a16="http://schemas.microsoft.com/office/drawing/2014/main" id="{F1AB5874-6429-4172-B255-6F870CA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661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B04D6-9FD2-4422-84C9-229E3C4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34150"/>
            <a:ext cx="16611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21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מדד הצלחה ראשוני: יותר כניסות איכותיות לעמודי שירות + יותר פניות עם מפרט ברור.</a:t>
            </a:r>
          </a:p>
        </p:txBody>
      </p:sp>
    </p:spTree>
    <p:extLst>
      <p:ext uri="{BB962C8B-B14F-4D97-AF65-F5344CB8AC3E}">
        <p14:creationId xmlns:p14="http://schemas.microsoft.com/office/powerpoint/2010/main" val="16229811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1066107-65E3-4E5B-90D4-D25FB63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F982D-4DFD-4A87-BC8A-DA0DB17A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476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defRPr>
            </a:pPr>
            <a:r>
              <a:rPr sz="1650">
                <a:solidFill>
                  <a:srgbClr val="102060"/>
                </a:solidFill>
                <a:latin typeface="Arial Hebrew"/>
                <a:ea typeface="Arial Hebrew"/>
                <a:cs typeface="Arial Hebrew"/>
              </a:rPr>
              <a:t>10 / מקורות</a:t>
            </a:r>
          </a:p>
        </p:txBody>
      </p:sp>
      <p:pic>
        <p:nvPicPr>
          <p:cNvPr id="3" name="beeri-packaging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e3f2b572a4a41"/>
          <a:stretch xmlns:a="http://schemas.openxmlformats.org/drawingml/2006/main"/>
        </p:blipFill>
        <p:spPr>
          <a:xfrm xmlns:a="http://schemas.openxmlformats.org/drawingml/2006/main">
            <a:off x="15836862" y="533400"/>
            <a:ext cx="1606627" cy="66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74D3C-AD05-4267-B423-136351F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defRPr>
            </a:pPr>
            <a:r>
              <a:rPr sz="4500" b="1">
                <a:solidFill>
                  <a:srgbClr val="081860"/>
                </a:solidFill>
                <a:latin typeface="Arial Hebrew"/>
                <a:ea typeface="Arial Hebrew"/>
                <a:cs typeface="Arial Hebrew"/>
              </a:rPr>
              <a:t>מקורות ששימשו למחקר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4E5C5-3871-4B9F-8C59-220564C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6611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2175">
                <a:solidFill>
                  <a:srgbClr val="4E4E4E"/>
                </a:solidFill>
                <a:latin typeface="Arial Hebrew"/>
                <a:ea typeface="Arial Hebrew"/>
                <a:cs typeface="Arial Hebrew"/>
              </a:defRPr>
            </a:pPr>
            <a:r>
              <a:rPr sz="2175">
                <a:solidFill>
                  <a:srgbClr val="4E4E4E"/>
                </a:solidFill>
                <a:latin typeface="Arial Hebrew"/>
                <a:ea typeface="Arial Hebrew"/>
                <a:cs typeface="Arial Hebrew"/>
              </a:rPr>
              <a:t>המקורות שימשו לזיהוי יכולות החברה, שפת השוק, שאלות משתמשים ונושאי תוכן רלוונטיים.</a:t>
            </a:r>
          </a:p>
        </p:txBody>
      </p:sp>
      <p:sp>
        <p:nvSpPr>
          <p:cNvPr id="6" name="spacer">
            <a:extLst xmlns:a="http://schemas.openxmlformats.org/drawingml/2006/main">
              <a:ext uri="{FF2B5EF4-FFF2-40B4-BE49-F238E27FC236}">
                <a16:creationId xmlns:a16="http://schemas.microsoft.com/office/drawing/2014/main" id="{39FDFDA3-E989-415E-A5D6-5DE1650E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6611600" cy="95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E84D8-46F5-43E4-81E8-BFEACF3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עמוד LinkedIn של Beeri Packaging: תיאור החברה, ענפים ויכולות מקצה לקצה.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40BD1-D4BC-4F36-A7D9-B577BBDC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390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DCDD5-280C-4894-9DC6-CC1A8CA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אתר דפוס בארי: צבעי המותג, טיפוגרפיה וקשר לחברת האם.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050A8-5040-400B-A4F9-69F897F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38481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8D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FA935-8DAA-413A-A2CF-26F6B38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התאחדות התעשיינים / כוכב ישראל 2026: דוגמאות מארזים של בארי אריזות.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0AA67-A1B2-4F35-A26B-2E428AC9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3434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00F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E5656-B8B3-486A-872D-55B67BB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מתחרים ו-FAQ בענף: Box O’ Mine, BAG, קרטוני וכל קרטון.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BE7B4-F2C9-4B06-983A-27E6CD5B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48006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08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CD230-3300-41F3-9978-03449913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636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defRPr>
            </a:pPr>
            <a:r>
              <a:rPr sz="1800">
                <a:solidFill>
                  <a:srgbClr val="111827"/>
                </a:solidFill>
                <a:latin typeface="Arial Hebrew"/>
                <a:ea typeface="Arial Hebrew"/>
                <a:cs typeface="Arial Hebrew"/>
              </a:rPr>
              <a:t>Google Search Central: הנחיות לכתיבת תוכן מועיל ואמין לאנשים.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B2237-FD6B-4163-ACC0-E0046B1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0" y="52959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838"/>
          </a:solidFill>
        </p:spPr>
      </p:sp>
      <p:sp>
        <p:nvSpPr>
          <p:cNvPr id="17" name="spacer">
            <a:extLst xmlns:a="http://schemas.openxmlformats.org/drawingml/2006/main">
              <a:ext uri="{FF2B5EF4-FFF2-40B4-BE49-F238E27FC236}">
                <a16:creationId xmlns:a16="http://schemas.microsoft.com/office/drawing/2014/main" id="{F08696DD-8518-42A2-9D10-FDC6BE86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661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3C26A-EC84-49A9-97AF-F4F5950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0"/>
          </a:solidFill>
          <a:ln xmlns:a="http://schemas.openxmlformats.org/drawingml/2006/main" w="0">
            <a:solidFill>
              <a:srgbClr val="E6EB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FFE80-E680-4F57-9142-2D81AD4B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655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64748B"/>
                </a:solidFill>
                <a:latin typeface="Arial Hebrew"/>
                <a:ea typeface="Arial Hebrew"/>
                <a:cs typeface="Arial Hebrew"/>
              </a:defRPr>
            </a:pPr>
            <a:r>
              <a:rPr sz="1350">
                <a:solidFill>
                  <a:srgbClr val="64748B"/>
                </a:solidFill>
                <a:latin typeface="Arial Hebrew"/>
                <a:ea typeface="Arial Hebrew"/>
                <a:cs typeface="Arial Hebrew"/>
              </a:rPr>
              <a:t>קישורים מלאים: linkedin.com/company/beeri-packaging | beeriprint.co.il | industry.org.il | boxomine.com/faq | bag.co.il | developers.google.com/search</a:t>
            </a:r>
          </a:p>
        </p:txBody>
      </p:sp>
    </p:spTree>
    <p:extLst>
      <p:ext uri="{BB962C8B-B14F-4D97-AF65-F5344CB8AC3E}">
        <p14:creationId xmlns:p14="http://schemas.microsoft.com/office/powerpoint/2010/main" val="646097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2026-04-30T18:55:45.1620000Z</dcterms:created>
  <dcterms:modified xsi:type="dcterms:W3CDTF">2026-04-30T18:55:45.1620000Z</dcterms:modified>
</coreProperties>
</file>